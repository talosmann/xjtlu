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sldIdLst>
    <p:sldId id="25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4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93" autoAdjust="0"/>
    <p:restoredTop sz="72740" autoAdjust="0"/>
  </p:normalViewPr>
  <p:slideViewPr>
    <p:cSldViewPr snapToGrid="0">
      <p:cViewPr varScale="1">
        <p:scale>
          <a:sx n="89" d="100"/>
          <a:sy n="89" d="100"/>
        </p:scale>
        <p:origin x="86" y="13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an Zhou" userId="3b3dd45c-8ee7-4310-9298-1a41569a0ac1" providerId="ADAL" clId="{3DF40920-9DA7-4525-A6EF-8A74F11B7F42}"/>
    <pc:docChg chg="undo custSel addSld modSld">
      <pc:chgData name="Mian Zhou" userId="3b3dd45c-8ee7-4310-9298-1a41569a0ac1" providerId="ADAL" clId="{3DF40920-9DA7-4525-A6EF-8A74F11B7F42}" dt="2026-03-18T13:47:08.986" v="140" actId="1076"/>
      <pc:docMkLst>
        <pc:docMk/>
      </pc:docMkLst>
      <pc:sldChg chg="addSp delSp modSp mod">
        <pc:chgData name="Mian Zhou" userId="3b3dd45c-8ee7-4310-9298-1a41569a0ac1" providerId="ADAL" clId="{3DF40920-9DA7-4525-A6EF-8A74F11B7F42}" dt="2026-03-18T13:38:24.704" v="24" actId="2711"/>
        <pc:sldMkLst>
          <pc:docMk/>
          <pc:sldMk cId="3308890520" sldId="344"/>
        </pc:sldMkLst>
        <pc:spChg chg="mod">
          <ac:chgData name="Mian Zhou" userId="3b3dd45c-8ee7-4310-9298-1a41569a0ac1" providerId="ADAL" clId="{3DF40920-9DA7-4525-A6EF-8A74F11B7F42}" dt="2026-03-18T13:36:28.850" v="2"/>
          <ac:spMkLst>
            <pc:docMk/>
            <pc:sldMk cId="3308890520" sldId="344"/>
            <ac:spMk id="2" creationId="{B5E222F0-2A6F-898B-5248-6C156BE2305B}"/>
          </ac:spMkLst>
        </pc:spChg>
        <pc:spChg chg="add del">
          <ac:chgData name="Mian Zhou" userId="3b3dd45c-8ee7-4310-9298-1a41569a0ac1" providerId="ADAL" clId="{3DF40920-9DA7-4525-A6EF-8A74F11B7F42}" dt="2026-03-18T13:36:52.302" v="5"/>
          <ac:spMkLst>
            <pc:docMk/>
            <pc:sldMk cId="3308890520" sldId="344"/>
            <ac:spMk id="3" creationId="{68E0B1D9-656A-D085-DB83-4EA90413A6F2}"/>
          </ac:spMkLst>
        </pc:spChg>
        <pc:spChg chg="add del">
          <ac:chgData name="Mian Zhou" userId="3b3dd45c-8ee7-4310-9298-1a41569a0ac1" providerId="ADAL" clId="{3DF40920-9DA7-4525-A6EF-8A74F11B7F42}" dt="2026-03-18T13:36:27.520" v="1" actId="22"/>
          <ac:spMkLst>
            <pc:docMk/>
            <pc:sldMk cId="3308890520" sldId="344"/>
            <ac:spMk id="6" creationId="{DFAE2D22-3F43-5560-3629-178D4AE2CF4F}"/>
          </ac:spMkLst>
        </pc:spChg>
        <pc:spChg chg="add mod">
          <ac:chgData name="Mian Zhou" userId="3b3dd45c-8ee7-4310-9298-1a41569a0ac1" providerId="ADAL" clId="{3DF40920-9DA7-4525-A6EF-8A74F11B7F42}" dt="2026-03-18T13:36:40.488" v="4"/>
          <ac:spMkLst>
            <pc:docMk/>
            <pc:sldMk cId="3308890520" sldId="344"/>
            <ac:spMk id="7" creationId="{B34262F2-2A97-AFB7-5A97-322DAC55A78D}"/>
          </ac:spMkLst>
        </pc:spChg>
        <pc:spChg chg="add mod">
          <ac:chgData name="Mian Zhou" userId="3b3dd45c-8ee7-4310-9298-1a41569a0ac1" providerId="ADAL" clId="{3DF40920-9DA7-4525-A6EF-8A74F11B7F42}" dt="2026-03-18T13:38:24.704" v="24" actId="2711"/>
          <ac:spMkLst>
            <pc:docMk/>
            <pc:sldMk cId="3308890520" sldId="344"/>
            <ac:spMk id="8" creationId="{75F1C99F-EDF3-71C2-D296-609D2FC58463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0:04.858" v="39" actId="255"/>
        <pc:sldMkLst>
          <pc:docMk/>
          <pc:sldMk cId="2378748526" sldId="345"/>
        </pc:sldMkLst>
        <pc:spChg chg="mod">
          <ac:chgData name="Mian Zhou" userId="3b3dd45c-8ee7-4310-9298-1a41569a0ac1" providerId="ADAL" clId="{3DF40920-9DA7-4525-A6EF-8A74F11B7F42}" dt="2026-03-18T13:38:50.574" v="26"/>
          <ac:spMkLst>
            <pc:docMk/>
            <pc:sldMk cId="2378748526" sldId="345"/>
            <ac:spMk id="2" creationId="{FB810228-DCB2-6CB9-E85A-EB9E84533504}"/>
          </ac:spMkLst>
        </pc:spChg>
        <pc:spChg chg="del">
          <ac:chgData name="Mian Zhou" userId="3b3dd45c-8ee7-4310-9298-1a41569a0ac1" providerId="ADAL" clId="{3DF40920-9DA7-4525-A6EF-8A74F11B7F42}" dt="2026-03-18T13:39:00.795" v="27"/>
          <ac:spMkLst>
            <pc:docMk/>
            <pc:sldMk cId="2378748526" sldId="345"/>
            <ac:spMk id="3" creationId="{6D7848F6-D4CF-C436-24EE-A168FD9A7FBD}"/>
          </ac:spMkLst>
        </pc:spChg>
        <pc:spChg chg="add mod">
          <ac:chgData name="Mian Zhou" userId="3b3dd45c-8ee7-4310-9298-1a41569a0ac1" providerId="ADAL" clId="{3DF40920-9DA7-4525-A6EF-8A74F11B7F42}" dt="2026-03-18T13:40:04.858" v="39" actId="255"/>
          <ac:spMkLst>
            <pc:docMk/>
            <pc:sldMk cId="2378748526" sldId="345"/>
            <ac:spMk id="5" creationId="{CAB41AE2-AF44-667F-DDF2-FDB7F2389946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2:14.719" v="65" actId="20577"/>
        <pc:sldMkLst>
          <pc:docMk/>
          <pc:sldMk cId="2748675706" sldId="346"/>
        </pc:sldMkLst>
        <pc:spChg chg="mod">
          <ac:chgData name="Mian Zhou" userId="3b3dd45c-8ee7-4310-9298-1a41569a0ac1" providerId="ADAL" clId="{3DF40920-9DA7-4525-A6EF-8A74F11B7F42}" dt="2026-03-18T13:40:17.102" v="41"/>
          <ac:spMkLst>
            <pc:docMk/>
            <pc:sldMk cId="2748675706" sldId="346"/>
            <ac:spMk id="2" creationId="{CEF6FCF7-4D68-C838-92AF-286BF2F7E199}"/>
          </ac:spMkLst>
        </pc:spChg>
        <pc:spChg chg="del">
          <ac:chgData name="Mian Zhou" userId="3b3dd45c-8ee7-4310-9298-1a41569a0ac1" providerId="ADAL" clId="{3DF40920-9DA7-4525-A6EF-8A74F11B7F42}" dt="2026-03-18T13:40:25.512" v="42"/>
          <ac:spMkLst>
            <pc:docMk/>
            <pc:sldMk cId="2748675706" sldId="346"/>
            <ac:spMk id="3" creationId="{8CDA8EF4-684C-35B2-8405-1E026460D4FB}"/>
          </ac:spMkLst>
        </pc:spChg>
        <pc:spChg chg="add mod">
          <ac:chgData name="Mian Zhou" userId="3b3dd45c-8ee7-4310-9298-1a41569a0ac1" providerId="ADAL" clId="{3DF40920-9DA7-4525-A6EF-8A74F11B7F42}" dt="2026-03-18T13:42:14.719" v="65" actId="20577"/>
          <ac:spMkLst>
            <pc:docMk/>
            <pc:sldMk cId="2748675706" sldId="346"/>
            <ac:spMk id="5" creationId="{3ADA4C24-03BA-A4A0-D3FC-366E61649434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2:59.049" v="78" actId="255"/>
        <pc:sldMkLst>
          <pc:docMk/>
          <pc:sldMk cId="203387215" sldId="347"/>
        </pc:sldMkLst>
        <pc:spChg chg="mod">
          <ac:chgData name="Mian Zhou" userId="3b3dd45c-8ee7-4310-9298-1a41569a0ac1" providerId="ADAL" clId="{3DF40920-9DA7-4525-A6EF-8A74F11B7F42}" dt="2026-03-18T13:42:25.843" v="67"/>
          <ac:spMkLst>
            <pc:docMk/>
            <pc:sldMk cId="203387215" sldId="347"/>
            <ac:spMk id="2" creationId="{D479E98E-674C-49C6-112F-DB78300CDBD2}"/>
          </ac:spMkLst>
        </pc:spChg>
        <pc:spChg chg="del">
          <ac:chgData name="Mian Zhou" userId="3b3dd45c-8ee7-4310-9298-1a41569a0ac1" providerId="ADAL" clId="{3DF40920-9DA7-4525-A6EF-8A74F11B7F42}" dt="2026-03-18T13:42:32" v="68"/>
          <ac:spMkLst>
            <pc:docMk/>
            <pc:sldMk cId="203387215" sldId="347"/>
            <ac:spMk id="3" creationId="{CBBB8EC1-AF9E-506A-3433-42DF1F2E5082}"/>
          </ac:spMkLst>
        </pc:spChg>
        <pc:spChg chg="add mod">
          <ac:chgData name="Mian Zhou" userId="3b3dd45c-8ee7-4310-9298-1a41569a0ac1" providerId="ADAL" clId="{3DF40920-9DA7-4525-A6EF-8A74F11B7F42}" dt="2026-03-18T13:42:59.049" v="78" actId="255"/>
          <ac:spMkLst>
            <pc:docMk/>
            <pc:sldMk cId="203387215" sldId="347"/>
            <ac:spMk id="5" creationId="{EECD4801-42CE-976A-1ED1-FE233F433A6E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4:32.335" v="92" actId="2711"/>
        <pc:sldMkLst>
          <pc:docMk/>
          <pc:sldMk cId="3179314318" sldId="348"/>
        </pc:sldMkLst>
        <pc:spChg chg="mod">
          <ac:chgData name="Mian Zhou" userId="3b3dd45c-8ee7-4310-9298-1a41569a0ac1" providerId="ADAL" clId="{3DF40920-9DA7-4525-A6EF-8A74F11B7F42}" dt="2026-03-18T13:43:20.305" v="80"/>
          <ac:spMkLst>
            <pc:docMk/>
            <pc:sldMk cId="3179314318" sldId="348"/>
            <ac:spMk id="2" creationId="{8EE416FA-8B5F-646A-A118-2DB45987BFCC}"/>
          </ac:spMkLst>
        </pc:spChg>
        <pc:spChg chg="del">
          <ac:chgData name="Mian Zhou" userId="3b3dd45c-8ee7-4310-9298-1a41569a0ac1" providerId="ADAL" clId="{3DF40920-9DA7-4525-A6EF-8A74F11B7F42}" dt="2026-03-18T13:43:26.716" v="81"/>
          <ac:spMkLst>
            <pc:docMk/>
            <pc:sldMk cId="3179314318" sldId="348"/>
            <ac:spMk id="3" creationId="{0D5E2E9E-8E26-CDA0-71AF-2549DA610895}"/>
          </ac:spMkLst>
        </pc:spChg>
        <pc:spChg chg="add mod">
          <ac:chgData name="Mian Zhou" userId="3b3dd45c-8ee7-4310-9298-1a41569a0ac1" providerId="ADAL" clId="{3DF40920-9DA7-4525-A6EF-8A74F11B7F42}" dt="2026-03-18T13:44:32.335" v="92" actId="2711"/>
          <ac:spMkLst>
            <pc:docMk/>
            <pc:sldMk cId="3179314318" sldId="348"/>
            <ac:spMk id="5" creationId="{52FE7D87-7CA6-2393-303A-EF9581E320FB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6:35.676" v="130" actId="20577"/>
        <pc:sldMkLst>
          <pc:docMk/>
          <pc:sldMk cId="3929980295" sldId="349"/>
        </pc:sldMkLst>
        <pc:spChg chg="mod">
          <ac:chgData name="Mian Zhou" userId="3b3dd45c-8ee7-4310-9298-1a41569a0ac1" providerId="ADAL" clId="{3DF40920-9DA7-4525-A6EF-8A74F11B7F42}" dt="2026-03-18T13:44:51.543" v="94"/>
          <ac:spMkLst>
            <pc:docMk/>
            <pc:sldMk cId="3929980295" sldId="349"/>
            <ac:spMk id="2" creationId="{291F4EF2-15C4-0072-48E4-D38F7F7A135F}"/>
          </ac:spMkLst>
        </pc:spChg>
        <pc:spChg chg="del">
          <ac:chgData name="Mian Zhou" userId="3b3dd45c-8ee7-4310-9298-1a41569a0ac1" providerId="ADAL" clId="{3DF40920-9DA7-4525-A6EF-8A74F11B7F42}" dt="2026-03-18T13:44:56.649" v="95"/>
          <ac:spMkLst>
            <pc:docMk/>
            <pc:sldMk cId="3929980295" sldId="349"/>
            <ac:spMk id="3" creationId="{7C6CE557-199A-BF56-D2A9-DACDBFBF63E0}"/>
          </ac:spMkLst>
        </pc:spChg>
        <pc:spChg chg="add mod">
          <ac:chgData name="Mian Zhou" userId="3b3dd45c-8ee7-4310-9298-1a41569a0ac1" providerId="ADAL" clId="{3DF40920-9DA7-4525-A6EF-8A74F11B7F42}" dt="2026-03-18T13:46:35.676" v="130" actId="20577"/>
          <ac:spMkLst>
            <pc:docMk/>
            <pc:sldMk cId="3929980295" sldId="349"/>
            <ac:spMk id="5" creationId="{82C5A8A7-F484-B25E-C46C-F66842E43D0A}"/>
          </ac:spMkLst>
        </pc:spChg>
      </pc:sldChg>
      <pc:sldChg chg="addSp delSp modSp new mod">
        <pc:chgData name="Mian Zhou" userId="3b3dd45c-8ee7-4310-9298-1a41569a0ac1" providerId="ADAL" clId="{3DF40920-9DA7-4525-A6EF-8A74F11B7F42}" dt="2026-03-18T13:47:08.986" v="140" actId="1076"/>
        <pc:sldMkLst>
          <pc:docMk/>
          <pc:sldMk cId="1137250284" sldId="350"/>
        </pc:sldMkLst>
        <pc:spChg chg="mod">
          <ac:chgData name="Mian Zhou" userId="3b3dd45c-8ee7-4310-9298-1a41569a0ac1" providerId="ADAL" clId="{3DF40920-9DA7-4525-A6EF-8A74F11B7F42}" dt="2026-03-18T13:46:50.231" v="133" actId="20577"/>
          <ac:spMkLst>
            <pc:docMk/>
            <pc:sldMk cId="1137250284" sldId="350"/>
            <ac:spMk id="2" creationId="{51A3DC57-2C11-FAD0-268B-369AD17A7711}"/>
          </ac:spMkLst>
        </pc:spChg>
        <pc:spChg chg="del">
          <ac:chgData name="Mian Zhou" userId="3b3dd45c-8ee7-4310-9298-1a41569a0ac1" providerId="ADAL" clId="{3DF40920-9DA7-4525-A6EF-8A74F11B7F42}" dt="2026-03-18T13:46:55.617" v="134"/>
          <ac:spMkLst>
            <pc:docMk/>
            <pc:sldMk cId="1137250284" sldId="350"/>
            <ac:spMk id="3" creationId="{913F74F2-533B-EF39-F78B-1B5D477B8129}"/>
          </ac:spMkLst>
        </pc:spChg>
        <pc:spChg chg="add mod">
          <ac:chgData name="Mian Zhou" userId="3b3dd45c-8ee7-4310-9298-1a41569a0ac1" providerId="ADAL" clId="{3DF40920-9DA7-4525-A6EF-8A74F11B7F42}" dt="2026-03-18T13:47:08.986" v="140" actId="1076"/>
          <ac:spMkLst>
            <pc:docMk/>
            <pc:sldMk cId="1137250284" sldId="350"/>
            <ac:spMk id="5" creationId="{3D38A50A-B6B5-70BF-633E-3B0D1F5E9A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D3D6A-1E36-4E79-A586-93CD8E0467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58466-66A7-480E-89D3-A74923815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58466-66A7-480E-89D3-A74923815D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9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A826-CC4A-6F5B-20C0-8FA2BB2E3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38B29-64E4-9B65-8B3F-11A4D015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53E91-1946-8356-4EDB-7D95624B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0D1A-6EE7-44E8-B736-1D3BBACCE229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130B8-5322-566F-9589-FE172B28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907B4-04A0-C7AD-A4B0-050B5E42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0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CF125-6EEC-D942-DF07-7CFC7D79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AF89-96ED-F9DF-E945-ED6E317E8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2893-72AA-AEFF-C314-8BC02682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6060-1A2C-4D72-B846-A374581C4AAE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E3C92-D098-5077-31E6-D78DDA5B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01E2-DDDD-72B8-A263-F280B753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F0F41-01F1-62FB-0E80-CDCBD948E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63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4393-AE4F-0FE1-D560-E1F03BC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116E0-3376-8F65-0FDA-5703A1EA2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C18FC-F0CD-91ED-E869-8CDCAA3F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3C0A-405E-44DF-B7E8-8E8BE0B30EEA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1FAA1-E9E9-FD36-4784-649BE251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EE3A-1E56-21EF-94B9-76567F6D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D3F62-C9C3-C584-D0D8-ACA9EAE64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A25B-8B7C-97E6-555D-7E753E01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A8976-C79D-AFE4-BAA2-194305672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F154E-3669-A5FF-2397-E8969BAD5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4DD5A-F0B7-B5C0-7F9B-A02FB380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AF7B-1B8E-4B3E-AEFD-FAEA65C3901D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A1AEF-0E4E-3F59-AB08-646C33A9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CCDD5-4F54-2328-F6E3-5E2BCD42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ED3B147C-FD13-F8BD-119C-38FA0FD736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7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073A-63F7-27E2-2CA5-8E9FAD27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D7F1F-8B45-9E2C-A875-AABA7FF5E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1FE5F-DBE9-4C0B-A69B-D32A53144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E865C-66D8-5488-465D-D9A69B8A6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FE417-E570-84D8-6984-BFC9C3A78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9C6EC-C020-3EDC-80EC-E39058A4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EBCA-D8F5-4F35-9266-7655B0D50E90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57480-6E6C-9B6C-AD4E-A5B79746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B7C5B2-9402-ED21-8435-6D7B7E51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736B13A-3AF7-F5CF-1605-52BCE643CB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3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DA3C-351D-AECC-886C-9047AA04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EFA71-BD48-E106-9A3F-3E7286BF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1195D-2F89-4030-9663-F5567CBDC0CB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BBAAE-E04C-5424-A8A6-74CBCD47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01348-907B-3E32-DCA4-9183C777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47E9D0B-035E-6A60-B84E-2E7BFBF696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9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429CB-8D65-C0A8-ECA2-4267A563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242C-F07F-40BB-8070-A2D5FAE71014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DF67E-C222-FD80-17C8-026A1A78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DEFA5-B13E-192F-C7A6-61BD1AF0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BF4D545-21C6-D1C7-755B-D0527A31E3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3E8E-48D5-40C1-7E01-B8421004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7D37-45D4-779A-B241-B1FC16011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082F3-E99C-E05C-0CA9-C0488DFB6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B14FD-5544-090C-F430-9FB213F6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03A9-8B1E-4269-8E60-9ECEE51A846C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5D0BF-6599-0AAB-179E-66D4B5FB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AB6F6-2B9E-EE33-5458-E4F70C47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712241E-37A1-BC40-33E1-5F4F99E7A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4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EE55-15F0-0D9D-99A3-DD1F288F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897BC-4F1C-8A14-DB96-978B1DE75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67931-E34E-BE00-F36F-F569547E1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D9F75-10CC-66B6-A2C3-8EBF2256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7E4E-E466-4482-994F-20672D12E3B1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B445A-2869-7CCB-8ADF-F423EE95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0EAAD-5444-76B0-BDB2-8CEB442B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02DEB87-BFFC-9292-97F1-604CCA39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4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C4CB-C811-C8A2-8AA9-76FB75FE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8C142-9AC0-F179-CE93-83C96776E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C37D-A6D8-E293-28DD-16548669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5A26-E16F-4CEA-ACD6-13D7DF62F570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D28A-FD95-88BD-C1C5-08557B9C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3D490-1108-C288-5950-E2F2D9D7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4B7168-A70D-3482-77B1-86EA65BCCF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8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D43D18-B7E9-7AB0-86A2-81A07C1E3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7AC8B-3F05-75EC-F16B-E59800F9B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7D47-D22A-E3FD-35A4-A837ED0D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9D5A5-9175-460A-AE87-376F39268E92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64386-99A4-B377-A91D-02C1469B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10A2-907E-71E0-15B4-AC68FF64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F213E-B277-76DA-951A-0A6E37227F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8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BFE08-DE8B-12D3-6252-40BE0946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EC17D-EAA4-BA79-ADDF-72D4D091E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A73F-BCD6-5A77-B012-15B981805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AF7E5-F9C5-43ED-8061-8273A5392226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19CAF-ABEB-E605-1D9E-96C64C39A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E7BD-4015-9B4F-EC0B-DA5201FF1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8CF86-262B-483E-8654-646368BCA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37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mailto:Mian.Zhou@xjtl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xjtlu.edu.cn/en/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52FB98-B6C6-47B2-B78D-B988D269DC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1951"/>
          <a:stretch/>
        </p:blipFill>
        <p:spPr>
          <a:xfrm>
            <a:off x="0" y="6057900"/>
            <a:ext cx="12192000" cy="80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06DCA9-F2BC-1D6B-2165-C623E8007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984" y="1522920"/>
            <a:ext cx="9344025" cy="221138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/>
              <a:t>DTS405TC: Image Process and Computer Vision</a:t>
            </a:r>
            <a:br>
              <a:rPr lang="en-US" altLang="zh-CN" sz="5300" dirty="0"/>
            </a:br>
            <a:r>
              <a:rPr lang="en-US" altLang="zh-CN" sz="4000" dirty="0"/>
              <a:t>Lab 3</a:t>
            </a:r>
            <a:endParaRPr lang="zh-CN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3F4C5-8859-41B2-60DE-3C1B9A77E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875C0-7761-4DC1-B5FF-1F22BF261FF2}"/>
              </a:ext>
            </a:extLst>
          </p:cNvPr>
          <p:cNvSpPr txBox="1"/>
          <p:nvPr/>
        </p:nvSpPr>
        <p:spPr>
          <a:xfrm>
            <a:off x="350274" y="4357740"/>
            <a:ext cx="42443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Mian Zhou, Ph.D. </a:t>
            </a:r>
          </a:p>
          <a:p>
            <a:endParaRPr lang="en-US" dirty="0"/>
          </a:p>
          <a:p>
            <a:r>
              <a:rPr lang="en-US" dirty="0"/>
              <a:t>Senior Associate Professor</a:t>
            </a:r>
          </a:p>
          <a:p>
            <a:r>
              <a:rPr lang="en-US" dirty="0"/>
              <a:t>School of AI and Advanced Computing</a:t>
            </a:r>
          </a:p>
          <a:p>
            <a:r>
              <a:rPr lang="en-US" dirty="0"/>
              <a:t>Building TC-D5033, 111 Taicang Avenue,</a:t>
            </a:r>
          </a:p>
          <a:p>
            <a:r>
              <a:rPr lang="en-US" dirty="0"/>
              <a:t>Xi'an </a:t>
            </a:r>
            <a:r>
              <a:rPr lang="en-US" dirty="0" err="1"/>
              <a:t>Jiaotong</a:t>
            </a:r>
            <a:r>
              <a:rPr lang="en-US" dirty="0"/>
              <a:t>-Liverpool University, </a:t>
            </a:r>
          </a:p>
          <a:p>
            <a:r>
              <a:rPr lang="en-US" dirty="0"/>
              <a:t>E-mail: </a:t>
            </a:r>
            <a:r>
              <a:rPr lang="en-US" dirty="0">
                <a:hlinkClick r:id="rId4"/>
              </a:rPr>
              <a:t>Mian.Zhou@xjtlu.edu.cn</a:t>
            </a:r>
            <a:endParaRPr lang="en-US" dirty="0"/>
          </a:p>
          <a:p>
            <a:r>
              <a:rPr lang="en-US" dirty="0"/>
              <a:t>Tel: 88973349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1D0A15-7526-42EC-A8FD-866FB0A0E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085" y="317632"/>
            <a:ext cx="4227830" cy="10249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8C003-0662-4D6E-8457-0DACEC7E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061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222F0-2A6F-898B-5248-6C156BE2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Understanding Image Histograms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4B3599-AF2D-96AA-A665-BFF2A5A6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5F1C99F-EDF3-71C2-D296-609D2FC584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5310"/>
            <a:ext cx="1044443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Histogram?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graphical representation of the frequency of each intensity level (0-255).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X-axis: Intensity values; Y-axis: Number of pixels.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use it?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if an image is underexposed (dark), overexposed (bright), or has low contrast.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Functions: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cv2.calcHist():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primary OpenCV function for calculating distributions.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plt.plot():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Visualizing the resulting data.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9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10228-DCB2-6CB9-E85A-EB9E8453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Grayscale vs. Color Histograms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82BA1-C4DF-1CDF-3C78-77026050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B41AE2-AF44-667F-DDF2-FDB7F2389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77692"/>
            <a:ext cx="10746719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Grayscale Histograms: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single curve showing the overall brightness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 Histograms: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Visualizing the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Blue, Green, and Red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channels separately.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identifying "color casts" (e.g., an image that is too "warm" or "cool").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Iterating through the channels 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(0, 1, 2)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plotting them in their respective colors.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4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6FCF7-4D68-C838-92AF-286BF2F7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Intensity Transformations (Brightness &amp; Contrast)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4F9AB2-9C73-D732-5A14-1B28075A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4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3ADA4C24-03BA-A4A0-D3FC-366E6164943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1839905"/>
                <a:ext cx="10747075" cy="43550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Linear Transformations: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Brightness: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Adding or subtracting a constant to every pixel.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Contrast: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Multiplying pixel values by a gain factor </a:t>
                </a:r>
                <a:r>
                  <a:rPr lang="en-US" altLang="zh-CN" sz="2800" dirty="0">
                    <a:latin typeface="Arial" panose="020B0604020202020204" pitchFamily="34" charset="0"/>
                    <a:ea typeface="Google Sans Text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Google Sans Text"/>
                      </a:rPr>
                      <m:t>𝛼</m:t>
                    </m:r>
                  </m:oMath>
                </a14:m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).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Histogram Equalization: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The Goal: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To "stretch" the histogram so that intensities are distributed more evenly.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Function: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  <a:cs typeface="Arial" panose="020B0604020202020204" pitchFamily="34" charset="0"/>
                  </a:rPr>
                  <a:t>cv2.equalizeHist().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Result:</a:t>
                </a: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Enhances details in images that are very dark or very bright.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3ADA4C24-03BA-A4A0-D3FC-366E61649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39905"/>
                <a:ext cx="10747075" cy="4355038"/>
              </a:xfrm>
              <a:prstGeom prst="rect">
                <a:avLst/>
              </a:prstGeom>
              <a:blipFill>
                <a:blip r:embed="rId2"/>
                <a:stretch>
                  <a:fillRect l="-1305" t="-23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67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9E98E-674C-49C6-112F-DB78300C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Non-linear Transformations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0CED9-D3B9-DF02-DF90-CBCA8D0B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CD4801-42CE-976A-1ED1-FE233F433A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923805"/>
            <a:ext cx="1082471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Transformation: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Expands dark pixels and compresses bright pixels.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visualizing details in Fourier Transforms or very dark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Gamma Correction (Power-Law):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Adjusts image "gamma" to account for how human eyes or screens perceive light.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 = c * r^γ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8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416FA-8B5F-646A-A118-2DB45987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Thresholding for Simple Segmentation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82B1D-F6AA-E6B3-5379-4FA64F83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FE7D87-7CA6-2393-303A-EF9581E32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54472"/>
            <a:ext cx="1085921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Segmentation?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Separating the "Foreground" (objects) from the "Background."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Thresholding: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pixel &gt; threshold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set to 255 (White); else 0 (Black).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cv2.threshold(img, thresh, maxval, cv2.THRESH_BINARY)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Otsu’s Method: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finds the "optimal" threshold value by analyzing the histogram peaks.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Thresholding: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thresholds for small regions. Essential for images with uneven lighting (shadows).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1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F4EF2-15C4-0072-48E4-D38F7F7A1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Tasks (Student Exercises)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5846B3-34F2-DF9D-CDF1-A23C8C00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7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2C5A8A7-F484-B25E-C46C-F66842E43D0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2008442"/>
                <a:ext cx="10583174" cy="3985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Task 1: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Generate and compare histograms for a low-contrast image before and after equalization.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Task 2: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Plot individual RGB histograms for a colorful landscape photo.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Task 3: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Apply a Gamma transformation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(</m:t>
                    </m:r>
                    <m:r>
                      <a:rPr kumimoji="0" lang="zh-C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𝛾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=0.5</m:t>
                    </m:r>
                  </m:oMath>
                </a14:m>
                <a:r>
                  <a:rPr kumimoji="0" lang="en-US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zh-C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𝛾</m:t>
                    </m:r>
                    <m:r>
                      <a:rPr kumimoji="0" lang="en-US" altLang="zh-CN" sz="3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=2.0)</m:t>
                    </m:r>
                  </m:oMath>
                </a14:m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and observe the effect on shadows.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Task 4: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Use Otsu’s method to separate text from a scanned document.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2C5A8A7-F484-B25E-C46C-F66842E43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008442"/>
                <a:ext cx="10583174" cy="3985706"/>
              </a:xfrm>
              <a:prstGeom prst="rect">
                <a:avLst/>
              </a:prstGeom>
              <a:blipFill>
                <a:blip r:embed="rId2"/>
                <a:stretch>
                  <a:fillRect l="-1498" t="-2599" b="-45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98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3DC57-2C11-FAD0-268B-369AD17A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Summary &amp; Best Practices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750D3-A7A4-080F-6CCA-B248DF29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38A50A-B6B5-70BF-633E-3B0D1F5E9A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747" y="1765753"/>
            <a:ext cx="1060905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Pixel Transforms</a:t>
            </a:r>
            <a:r>
              <a:rPr kumimoji="0" lang="zh-CN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"point operations"—the new value of a pixel depends only on its original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is Key:</a:t>
            </a:r>
            <a:r>
              <a:rPr kumimoji="0" lang="zh-CN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Always look at the histogram before deciding which transformation to apply.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Preparation for Next Week:</a:t>
            </a:r>
            <a:r>
              <a:rPr kumimoji="0" lang="zh-CN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techniques are the prerequisite for </a:t>
            </a:r>
            <a:r>
              <a:rPr kumimoji="0" lang="zh-CN" altLang="zh-CN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Filtering</a:t>
            </a:r>
            <a:r>
              <a:rPr kumimoji="0" lang="zh-CN" altLang="zh-CN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(Blurring and Sharpening).</a:t>
            </a:r>
          </a:p>
        </p:txBody>
      </p:sp>
    </p:spTree>
    <p:extLst>
      <p:ext uri="{BB962C8B-B14F-4D97-AF65-F5344CB8AC3E}">
        <p14:creationId xmlns:p14="http://schemas.microsoft.com/office/powerpoint/2010/main" val="113725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B233-1AEA-9EC6-CF0C-87D23E33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8CF86-262B-483E-8654-646368BCAB40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375F30D8-A02C-0F14-06C5-8DDC35BCF9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19"/>
          <a:stretch>
            <a:fillRect/>
          </a:stretch>
        </p:blipFill>
        <p:spPr>
          <a:xfrm>
            <a:off x="1681400" y="0"/>
            <a:ext cx="9131300" cy="4621530"/>
          </a:xfrm>
          <a:prstGeom prst="rect">
            <a:avLst/>
          </a:prstGeom>
        </p:spPr>
      </p:pic>
      <p:pic>
        <p:nvPicPr>
          <p:cNvPr id="6" name="Picture 21">
            <a:extLst>
              <a:ext uri="{FF2B5EF4-FFF2-40B4-BE49-F238E27FC236}">
                <a16:creationId xmlns:a16="http://schemas.microsoft.com/office/drawing/2014/main" id="{79C498C8-61A8-149A-9946-3EB152DF8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3" y="6037935"/>
            <a:ext cx="2342070" cy="500977"/>
          </a:xfrm>
          <a:prstGeom prst="rect">
            <a:avLst/>
          </a:prstGeom>
        </p:spPr>
      </p:pic>
      <p:sp>
        <p:nvSpPr>
          <p:cNvPr id="7" name="Rectangle 33">
            <a:extLst>
              <a:ext uri="{FF2B5EF4-FFF2-40B4-BE49-F238E27FC236}">
                <a16:creationId xmlns:a16="http://schemas.microsoft.com/office/drawing/2014/main" id="{B8B1F446-C498-9939-A1B2-2186340DD283}"/>
              </a:ext>
            </a:extLst>
          </p:cNvPr>
          <p:cNvSpPr/>
          <p:nvPr/>
        </p:nvSpPr>
        <p:spPr>
          <a:xfrm>
            <a:off x="3969097" y="3312786"/>
            <a:ext cx="4732741" cy="1146627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7C766C-95A0-54F7-E0D1-9F8A72AC3BF0}"/>
              </a:ext>
            </a:extLst>
          </p:cNvPr>
          <p:cNvSpPr txBox="1"/>
          <p:nvPr/>
        </p:nvSpPr>
        <p:spPr>
          <a:xfrm>
            <a:off x="2456823" y="311668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cap="all" dirty="0">
                <a:solidFill>
                  <a:schemeClr val="bg1"/>
                </a:solidFill>
                <a:latin typeface="Calibri"/>
                <a:cs typeface="Calibri"/>
              </a:rPr>
              <a:t>THANK YOU</a:t>
            </a:r>
            <a:endParaRPr lang="en-US" sz="6000" b="1" cap="all" spc="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63D728-9BC8-4829-2036-A9872C936A56}"/>
              </a:ext>
            </a:extLst>
          </p:cNvPr>
          <p:cNvSpPr txBox="1"/>
          <p:nvPr/>
        </p:nvSpPr>
        <p:spPr>
          <a:xfrm>
            <a:off x="3484575" y="5049198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Visit us</a:t>
            </a:r>
          </a:p>
        </p:txBody>
      </p:sp>
      <p:pic>
        <p:nvPicPr>
          <p:cNvPr id="10" name="Picture 25">
            <a:extLst>
              <a:ext uri="{FF2B5EF4-FFF2-40B4-BE49-F238E27FC236}">
                <a16:creationId xmlns:a16="http://schemas.microsoft.com/office/drawing/2014/main" id="{D43505E9-80D5-4350-66FA-4947BCFA6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693" y="4782615"/>
            <a:ext cx="984882" cy="984882"/>
          </a:xfrm>
          <a:prstGeom prst="rect">
            <a:avLst/>
          </a:prstGeom>
        </p:spPr>
      </p:pic>
      <p:sp>
        <p:nvSpPr>
          <p:cNvPr id="11" name="Rectangle 28">
            <a:extLst>
              <a:ext uri="{FF2B5EF4-FFF2-40B4-BE49-F238E27FC236}">
                <a16:creationId xmlns:a16="http://schemas.microsoft.com/office/drawing/2014/main" id="{B0EBC5D8-D860-74D8-986F-BCB7D2D34B20}"/>
              </a:ext>
            </a:extLst>
          </p:cNvPr>
          <p:cNvSpPr/>
          <p:nvPr/>
        </p:nvSpPr>
        <p:spPr>
          <a:xfrm>
            <a:off x="3587185" y="4855001"/>
            <a:ext cx="288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6EF4868-97DB-5DF6-4101-472394447405}"/>
              </a:ext>
            </a:extLst>
          </p:cNvPr>
          <p:cNvSpPr txBox="1"/>
          <p:nvPr/>
        </p:nvSpPr>
        <p:spPr>
          <a:xfrm>
            <a:off x="7835926" y="5079726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FOLLOW us</a:t>
            </a:r>
          </a:p>
        </p:txBody>
      </p:sp>
      <p:sp>
        <p:nvSpPr>
          <p:cNvPr id="13" name="Rectangle 34">
            <a:extLst>
              <a:ext uri="{FF2B5EF4-FFF2-40B4-BE49-F238E27FC236}">
                <a16:creationId xmlns:a16="http://schemas.microsoft.com/office/drawing/2014/main" id="{65732AD9-B901-5B3E-E5E4-5DAA2606D351}"/>
              </a:ext>
            </a:extLst>
          </p:cNvPr>
          <p:cNvSpPr/>
          <p:nvPr/>
        </p:nvSpPr>
        <p:spPr>
          <a:xfrm>
            <a:off x="7938536" y="4892786"/>
            <a:ext cx="288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35">
            <a:extLst>
              <a:ext uri="{FF2B5EF4-FFF2-40B4-BE49-F238E27FC236}">
                <a16:creationId xmlns:a16="http://schemas.microsoft.com/office/drawing/2014/main" id="{72FC76B8-756A-D7A8-F3A4-3CD998635444}"/>
              </a:ext>
            </a:extLst>
          </p:cNvPr>
          <p:cNvGrpSpPr/>
          <p:nvPr/>
        </p:nvGrpSpPr>
        <p:grpSpPr>
          <a:xfrm>
            <a:off x="6807637" y="4820400"/>
            <a:ext cx="1037081" cy="974527"/>
            <a:chOff x="7496912" y="3906329"/>
            <a:chExt cx="1093174" cy="1027237"/>
          </a:xfrm>
        </p:grpSpPr>
        <p:pic>
          <p:nvPicPr>
            <p:cNvPr id="15" name="Picture 36">
              <a:extLst>
                <a:ext uri="{FF2B5EF4-FFF2-40B4-BE49-F238E27FC236}">
                  <a16:creationId xmlns:a16="http://schemas.microsoft.com/office/drawing/2014/main" id="{B708E15E-9F27-BE7D-327C-A6B0EB6DF4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58" b="75832"/>
            <a:stretch>
              <a:fillRect/>
            </a:stretch>
          </p:blipFill>
          <p:spPr>
            <a:xfrm>
              <a:off x="7496912" y="3906329"/>
              <a:ext cx="1093174" cy="531499"/>
            </a:xfrm>
            <a:prstGeom prst="rect">
              <a:avLst/>
            </a:prstGeom>
          </p:spPr>
        </p:pic>
        <p:pic>
          <p:nvPicPr>
            <p:cNvPr id="16" name="Picture 37">
              <a:extLst>
                <a:ext uri="{FF2B5EF4-FFF2-40B4-BE49-F238E27FC236}">
                  <a16:creationId xmlns:a16="http://schemas.microsoft.com/office/drawing/2014/main" id="{D4B7FEA1-3413-12FB-6B33-8F2701FBF9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2" t="-22" r="27371" b="76543"/>
            <a:stretch>
              <a:fillRect/>
            </a:stretch>
          </p:blipFill>
          <p:spPr>
            <a:xfrm>
              <a:off x="7505704" y="4441198"/>
              <a:ext cx="518747" cy="492368"/>
            </a:xfrm>
            <a:prstGeom prst="rect">
              <a:avLst/>
            </a:prstGeom>
          </p:spPr>
        </p:pic>
        <p:pic>
          <p:nvPicPr>
            <p:cNvPr id="17" name="Picture 39">
              <a:extLst>
                <a:ext uri="{FF2B5EF4-FFF2-40B4-BE49-F238E27FC236}">
                  <a16:creationId xmlns:a16="http://schemas.microsoft.com/office/drawing/2014/main" id="{6D4D6040-5579-638B-39C0-2BC4A06B24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6" t="23779" r="51266" b="51483"/>
            <a:stretch>
              <a:fillRect/>
            </a:stretch>
          </p:blipFill>
          <p:spPr>
            <a:xfrm>
              <a:off x="8078919" y="4414820"/>
              <a:ext cx="509954" cy="518746"/>
            </a:xfrm>
            <a:prstGeom prst="rect">
              <a:avLst/>
            </a:prstGeom>
          </p:spPr>
        </p:pic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C5FACAE1-2B35-6421-4AAA-7482CA08C326}"/>
              </a:ext>
            </a:extLst>
          </p:cNvPr>
          <p:cNvSpPr txBox="1"/>
          <p:nvPr/>
        </p:nvSpPr>
        <p:spPr>
          <a:xfrm>
            <a:off x="3489973" y="5376860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1200" b="1" cap="all" dirty="0">
                <a:solidFill>
                  <a:srgbClr val="FFFF00"/>
                </a:solidFill>
                <a:cs typeface="DIN-Regular"/>
                <a:hlinkClick r:id="rId6"/>
              </a:rPr>
              <a:t>www.xjtlu.edu.cn</a:t>
            </a:r>
            <a:endParaRPr lang="en-US" sz="1100" b="1" cap="all" dirty="0">
              <a:solidFill>
                <a:srgbClr val="FFFF00"/>
              </a:solidFill>
              <a:cs typeface="DIN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8585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4892</TotalTime>
  <Words>600</Words>
  <Application>Microsoft Office PowerPoint</Application>
  <PresentationFormat>宽屏</PresentationFormat>
  <Paragraphs>71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 Unicode MS</vt:lpstr>
      <vt:lpstr>DIN-Regular</vt:lpstr>
      <vt:lpstr>Arial</vt:lpstr>
      <vt:lpstr>Calibri</vt:lpstr>
      <vt:lpstr>Cambria Math</vt:lpstr>
      <vt:lpstr>Office Theme</vt:lpstr>
      <vt:lpstr>DTS405TC: Image Process and Computer Vision Lab 3</vt:lpstr>
      <vt:lpstr>Understanding Image Histograms</vt:lpstr>
      <vt:lpstr>Grayscale vs. Color Histograms</vt:lpstr>
      <vt:lpstr>Intensity Transformations (Brightness &amp; Contrast)</vt:lpstr>
      <vt:lpstr>Non-linear Transformations</vt:lpstr>
      <vt:lpstr>Thresholding for Simple Segmentation</vt:lpstr>
      <vt:lpstr>Lab Tasks (Student Exercises)</vt:lpstr>
      <vt:lpstr>Summary &amp; Best Practices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Mian Zhou</dc:creator>
  <cp:lastModifiedBy>Mian Zhou</cp:lastModifiedBy>
  <cp:revision>87</cp:revision>
  <dcterms:created xsi:type="dcterms:W3CDTF">2024-02-16T23:07:58Z</dcterms:created>
  <dcterms:modified xsi:type="dcterms:W3CDTF">2026-03-18T13:47:14Z</dcterms:modified>
</cp:coreProperties>
</file>